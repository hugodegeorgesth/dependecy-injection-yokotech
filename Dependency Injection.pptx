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2bc81ce7_3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82bc81ce7_3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2bc81ce7_3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82bc81ce7_3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2bc81ce7_3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82bc81ce7_3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2bc81ce7_3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82bc81ce7_3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2bc81ce7_3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82bc81ce7_3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82bc81ce7_3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82bc81ce7_3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2bc81ce7_3_1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82bc81ce7_3_1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2bc81ce7_3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82bc81ce7_3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82bc81ce7_3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82bc81ce7_3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82bc81ce7_3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82bc81ce7_3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82bc81ce7_3_2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82bc81ce7_3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82bc81ce7_3_2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d82bc81ce7_3_2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2bc81ce7_3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d82bc81ce7_3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82bc81ce7_3_3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d82bc81ce7_3_3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82bc81ce7_3_3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82bc81ce7_3_3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82bc81ce7_3_3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82bc81ce7_3_3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82bc81ce7_3_3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d82bc81ce7_3_3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4419600" y="4629150"/>
            <a:ext cx="2133600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9150"/>
            <a:ext cx="2133600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17220" y="1295630"/>
            <a:ext cx="6858001" cy="11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YOKOTEN TECHNIQUE </a:t>
            </a:r>
            <a:endParaRPr sz="1100"/>
          </a:p>
        </p:txBody>
      </p:sp>
      <p:sp>
        <p:nvSpPr>
          <p:cNvPr id="62" name="Google Shape;62;p15"/>
          <p:cNvSpPr txBox="1"/>
          <p:nvPr/>
        </p:nvSpPr>
        <p:spPr>
          <a:xfrm>
            <a:off x="617220" y="1570672"/>
            <a:ext cx="7543801" cy="904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Georgia"/>
              <a:buNone/>
            </a:pPr>
            <a:r>
              <a:rPr b="1" i="0" lang="en" sz="6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Dependency</a:t>
            </a:r>
            <a:endParaRPr sz="1100"/>
          </a:p>
        </p:txBody>
      </p:sp>
      <p:sp>
        <p:nvSpPr>
          <p:cNvPr id="63" name="Google Shape;63;p15"/>
          <p:cNvSpPr txBox="1"/>
          <p:nvPr/>
        </p:nvSpPr>
        <p:spPr>
          <a:xfrm>
            <a:off x="617220" y="2393632"/>
            <a:ext cx="7543801" cy="904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300"/>
              <a:buFont typeface="Georgia"/>
              <a:buNone/>
            </a:pPr>
            <a:r>
              <a:rPr b="1" i="1" lang="en" sz="63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Injection.</a:t>
            </a:r>
            <a:endParaRPr sz="1100"/>
          </a:p>
        </p:txBody>
      </p:sp>
      <p:sp>
        <p:nvSpPr>
          <p:cNvPr id="64" name="Google Shape;64;p15"/>
          <p:cNvSpPr txBox="1"/>
          <p:nvPr/>
        </p:nvSpPr>
        <p:spPr>
          <a:xfrm>
            <a:off x="617220" y="3507172"/>
            <a:ext cx="75438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Pourquoi, comment, et surtout : quand ne PAS en faire.</a:t>
            </a:r>
            <a:endParaRPr sz="1100"/>
          </a:p>
        </p:txBody>
      </p:sp>
      <p:sp>
        <p:nvSpPr>
          <p:cNvPr id="65" name="Google Shape;65;p15"/>
          <p:cNvSpPr/>
          <p:nvPr/>
        </p:nvSpPr>
        <p:spPr>
          <a:xfrm>
            <a:off x="617220" y="3909059"/>
            <a:ext cx="1028701" cy="274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617220" y="4088197"/>
            <a:ext cx="754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lang="en" sz="15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Hugo DEGEORGES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100"/>
          </a:p>
        </p:txBody>
      </p:sp>
      <p:sp>
        <p:nvSpPr>
          <p:cNvPr id="73" name="Google Shape;73;p16"/>
          <p:cNvSpPr txBox="1"/>
          <p:nvPr/>
        </p:nvSpPr>
        <p:spPr>
          <a:xfrm>
            <a:off x="411480" y="799148"/>
            <a:ext cx="8229601" cy="40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Georgia"/>
              <a:buNone/>
            </a:pPr>
            <a:r>
              <a:rPr b="1" i="0" lang="en" sz="29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Plan</a:t>
            </a:r>
            <a:endParaRPr sz="1100"/>
          </a:p>
        </p:txBody>
      </p:sp>
      <p:sp>
        <p:nvSpPr>
          <p:cNvPr id="74" name="Google Shape;74;p16"/>
          <p:cNvSpPr txBox="1"/>
          <p:nvPr/>
        </p:nvSpPr>
        <p:spPr>
          <a:xfrm>
            <a:off x="411480" y="1776412"/>
            <a:ext cx="617221" cy="390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700"/>
              <a:buFont typeface="Georgia"/>
              <a:buNone/>
            </a:pPr>
            <a:r>
              <a:rPr b="1" i="0" lang="en" sz="2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/>
          </a:p>
        </p:txBody>
      </p:sp>
      <p:sp>
        <p:nvSpPr>
          <p:cNvPr id="75" name="Google Shape;75;p16"/>
          <p:cNvSpPr txBox="1"/>
          <p:nvPr/>
        </p:nvSpPr>
        <p:spPr>
          <a:xfrm>
            <a:off x="1234440" y="1861449"/>
            <a:ext cx="5829301" cy="220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sz="1100"/>
          </a:p>
        </p:txBody>
      </p:sp>
      <p:sp>
        <p:nvSpPr>
          <p:cNvPr id="76" name="Google Shape;76;p16"/>
          <p:cNvSpPr/>
          <p:nvPr/>
        </p:nvSpPr>
        <p:spPr>
          <a:xfrm>
            <a:off x="411479" y="2227517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11480" y="2359343"/>
            <a:ext cx="617221" cy="390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700"/>
              <a:buFont typeface="Georgia"/>
              <a:buNone/>
            </a:pPr>
            <a:r>
              <a:rPr b="1" i="0" lang="en" sz="2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/>
          </a:p>
        </p:txBody>
      </p:sp>
      <p:sp>
        <p:nvSpPr>
          <p:cNvPr id="78" name="Google Shape;78;p16"/>
          <p:cNvSpPr txBox="1"/>
          <p:nvPr/>
        </p:nvSpPr>
        <p:spPr>
          <a:xfrm>
            <a:off x="1234440" y="2444379"/>
            <a:ext cx="5829301" cy="220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concept</a:t>
            </a:r>
            <a:endParaRPr sz="1100"/>
          </a:p>
        </p:txBody>
      </p:sp>
      <p:sp>
        <p:nvSpPr>
          <p:cNvPr id="79" name="Google Shape;79;p16"/>
          <p:cNvSpPr/>
          <p:nvPr/>
        </p:nvSpPr>
        <p:spPr>
          <a:xfrm>
            <a:off x="411479" y="281044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11480" y="2942272"/>
            <a:ext cx="617221" cy="390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700"/>
              <a:buFont typeface="Georgia"/>
              <a:buNone/>
            </a:pPr>
            <a:r>
              <a:rPr b="1" i="0" lang="en" sz="2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/>
          </a:p>
        </p:txBody>
      </p:sp>
      <p:sp>
        <p:nvSpPr>
          <p:cNvPr id="81" name="Google Shape;81;p16"/>
          <p:cNvSpPr txBox="1"/>
          <p:nvPr/>
        </p:nvSpPr>
        <p:spPr>
          <a:xfrm>
            <a:off x="1234440" y="3027309"/>
            <a:ext cx="5829301" cy="220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Démo live · refactor</a:t>
            </a:r>
            <a:endParaRPr sz="1100"/>
          </a:p>
        </p:txBody>
      </p:sp>
      <p:sp>
        <p:nvSpPr>
          <p:cNvPr id="82" name="Google Shape;82;p16"/>
          <p:cNvSpPr/>
          <p:nvPr/>
        </p:nvSpPr>
        <p:spPr>
          <a:xfrm>
            <a:off x="411479" y="339337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11480" y="3525202"/>
            <a:ext cx="617221" cy="390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700"/>
              <a:buFont typeface="Georgia"/>
              <a:buNone/>
            </a:pPr>
            <a:r>
              <a:rPr b="1" i="0" lang="en" sz="2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100"/>
          </a:p>
        </p:txBody>
      </p:sp>
      <p:sp>
        <p:nvSpPr>
          <p:cNvPr id="84" name="Google Shape;84;p16"/>
          <p:cNvSpPr txBox="1"/>
          <p:nvPr/>
        </p:nvSpPr>
        <p:spPr>
          <a:xfrm>
            <a:off x="1234440" y="3610239"/>
            <a:ext cx="5829301" cy="220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Pièges courants</a:t>
            </a:r>
            <a:endParaRPr sz="1100"/>
          </a:p>
        </p:txBody>
      </p:sp>
      <p:sp>
        <p:nvSpPr>
          <p:cNvPr id="85" name="Google Shape;85;p16"/>
          <p:cNvSpPr/>
          <p:nvPr/>
        </p:nvSpPr>
        <p:spPr>
          <a:xfrm>
            <a:off x="411479" y="397630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11480" y="4108132"/>
            <a:ext cx="617221" cy="390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700"/>
              <a:buFont typeface="Georgia"/>
              <a:buNone/>
            </a:pPr>
            <a:r>
              <a:rPr b="1" i="0" lang="en" sz="2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100"/>
          </a:p>
        </p:txBody>
      </p:sp>
      <p:sp>
        <p:nvSpPr>
          <p:cNvPr id="87" name="Google Shape;87;p16"/>
          <p:cNvSpPr txBox="1"/>
          <p:nvPr/>
        </p:nvSpPr>
        <p:spPr>
          <a:xfrm>
            <a:off x="1234440" y="4193169"/>
            <a:ext cx="5829301" cy="220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Atelier + Q&amp;A</a:t>
            </a:r>
            <a:endParaRPr sz="1100"/>
          </a:p>
        </p:txBody>
      </p:sp>
      <p:sp>
        <p:nvSpPr>
          <p:cNvPr id="88" name="Google Shape;88;p16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ACCROCHE</a:t>
            </a:r>
            <a:endParaRPr sz="1100"/>
          </a:p>
        </p:txBody>
      </p:sp>
      <p:sp>
        <p:nvSpPr>
          <p:cNvPr id="95" name="Google Shape;95;p17"/>
          <p:cNvSpPr txBox="1"/>
          <p:nvPr/>
        </p:nvSpPr>
        <p:spPr>
          <a:xfrm>
            <a:off x="274319" y="200025"/>
            <a:ext cx="1714501" cy="3028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1000"/>
              <a:buFont typeface="Georgia"/>
              <a:buNone/>
            </a:pPr>
            <a:r>
              <a:rPr b="0" i="0" lang="en" sz="210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1100"/>
          </a:p>
        </p:txBody>
      </p:sp>
      <p:sp>
        <p:nvSpPr>
          <p:cNvPr id="96" name="Google Shape;96;p17"/>
          <p:cNvSpPr txBox="1"/>
          <p:nvPr/>
        </p:nvSpPr>
        <p:spPr>
          <a:xfrm>
            <a:off x="1234440" y="1893570"/>
            <a:ext cx="7543801" cy="876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0" i="1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 a déjà écrit un test et dû mocker 15 choses pour tester 1 ligne de logique ?</a:t>
            </a:r>
            <a:endParaRPr sz="1100"/>
          </a:p>
        </p:txBody>
      </p:sp>
      <p:sp>
        <p:nvSpPr>
          <p:cNvPr id="97" name="Google Shape;97;p17"/>
          <p:cNvSpPr/>
          <p:nvPr/>
        </p:nvSpPr>
        <p:spPr>
          <a:xfrm>
            <a:off x="411480" y="3840480"/>
            <a:ext cx="41149" cy="68580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17220" y="3875855"/>
            <a:ext cx="2057401" cy="10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SPOILER</a:t>
            </a:r>
            <a:endParaRPr sz="1100"/>
          </a:p>
        </p:txBody>
      </p:sp>
      <p:sp>
        <p:nvSpPr>
          <p:cNvPr id="99" name="Google Shape;99;p17"/>
          <p:cNvSpPr txBox="1"/>
          <p:nvPr/>
        </p:nvSpPr>
        <p:spPr>
          <a:xfrm>
            <a:off x="617220" y="4192972"/>
            <a:ext cx="8229601" cy="186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 problème n'est pas le test. C'est le code testé.</a:t>
            </a:r>
            <a:endParaRPr sz="1100"/>
          </a:p>
        </p:txBody>
      </p:sp>
      <p:sp>
        <p:nvSpPr>
          <p:cNvPr id="100" name="Google Shape;100;p17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sz="1100"/>
          </a:p>
        </p:txBody>
      </p:sp>
      <p:sp>
        <p:nvSpPr>
          <p:cNvPr id="107" name="Google Shape;107;p18"/>
          <p:cNvSpPr txBox="1"/>
          <p:nvPr/>
        </p:nvSpPr>
        <p:spPr>
          <a:xfrm>
            <a:off x="411480" y="788670"/>
            <a:ext cx="8229601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Ce code a l'air normal. Il ne l'est pas.</a:t>
            </a:r>
            <a:endParaRPr sz="1100"/>
          </a:p>
        </p:txBody>
      </p:sp>
      <p:sp>
        <p:nvSpPr>
          <p:cNvPr id="108" name="Google Shape;108;p18"/>
          <p:cNvSpPr/>
          <p:nvPr/>
        </p:nvSpPr>
        <p:spPr>
          <a:xfrm>
            <a:off x="411480" y="1440179"/>
            <a:ext cx="6515101" cy="301752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582930" y="1577340"/>
            <a:ext cx="102871" cy="102871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754379" y="1577340"/>
            <a:ext cx="102871" cy="102871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925829" y="1577340"/>
            <a:ext cx="102871" cy="102871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82930" y="1817370"/>
            <a:ext cx="6172201" cy="178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OrderService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db =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PostgresClient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mailer =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SendgridMailer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logger =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DatadogLogger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checkout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.db.save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.mailer.send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order.email, </a:t>
            </a:r>
            <a:r>
              <a:rPr b="0" i="0" lang="en" sz="11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"Merci !"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.logger.info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"order placed"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113" name="Google Shape;113;p18"/>
          <p:cNvSpPr/>
          <p:nvPr/>
        </p:nvSpPr>
        <p:spPr>
          <a:xfrm>
            <a:off x="7200900" y="1440179"/>
            <a:ext cx="1508759" cy="301752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060" y="1577340"/>
            <a:ext cx="342901" cy="3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7303769" y="2047875"/>
            <a:ext cx="1371601" cy="361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Qu'est-ce qui cloche ?</a:t>
            </a:r>
            <a:endParaRPr sz="1100"/>
          </a:p>
        </p:txBody>
      </p:sp>
      <p:sp>
        <p:nvSpPr>
          <p:cNvPr id="116" name="Google Shape;116;p18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endParaRPr sz="1100"/>
          </a:p>
        </p:txBody>
      </p:sp>
      <p:sp>
        <p:nvSpPr>
          <p:cNvPr id="123" name="Google Shape;123;p19"/>
          <p:cNvSpPr txBox="1"/>
          <p:nvPr/>
        </p:nvSpPr>
        <p:spPr>
          <a:xfrm>
            <a:off x="421005" y="788670"/>
            <a:ext cx="8229601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Trois douleurs, une cause racine.</a:t>
            </a:r>
            <a:endParaRPr sz="1100"/>
          </a:p>
        </p:txBody>
      </p:sp>
      <p:sp>
        <p:nvSpPr>
          <p:cNvPr id="124" name="Google Shape;124;p19"/>
          <p:cNvSpPr/>
          <p:nvPr/>
        </p:nvSpPr>
        <p:spPr>
          <a:xfrm>
            <a:off x="411480" y="1508759"/>
            <a:ext cx="2708910" cy="205740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11480" y="1508759"/>
            <a:ext cx="2708910" cy="4114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17220" y="1664970"/>
            <a:ext cx="685801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/>
          </a:p>
        </p:txBody>
      </p:sp>
      <p:pic>
        <p:nvPicPr>
          <p:cNvPr descr="Image 0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3169" y="171450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617220" y="2384107"/>
            <a:ext cx="2297430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Testabilité</a:t>
            </a:r>
            <a:endParaRPr sz="1100"/>
          </a:p>
        </p:txBody>
      </p:sp>
      <p:sp>
        <p:nvSpPr>
          <p:cNvPr id="129" name="Google Shape;129;p19"/>
          <p:cNvSpPr txBox="1"/>
          <p:nvPr/>
        </p:nvSpPr>
        <p:spPr>
          <a:xfrm>
            <a:off x="617220" y="2963655"/>
            <a:ext cx="2297430" cy="313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Impossible de tester checkout sans vraie DB + vrai Sendgrid.</a:t>
            </a:r>
            <a:endParaRPr sz="1100"/>
          </a:p>
        </p:txBody>
      </p:sp>
      <p:sp>
        <p:nvSpPr>
          <p:cNvPr id="130" name="Google Shape;130;p19"/>
          <p:cNvSpPr/>
          <p:nvPr/>
        </p:nvSpPr>
        <p:spPr>
          <a:xfrm>
            <a:off x="3326130" y="1508759"/>
            <a:ext cx="2708911" cy="205740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326130" y="1508759"/>
            <a:ext cx="2708911" cy="4114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3531869" y="1664970"/>
            <a:ext cx="685801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/>
          </a:p>
        </p:txBody>
      </p:sp>
      <p:pic>
        <p:nvPicPr>
          <p:cNvPr descr="Image 1" id="133" name="Google Shape;1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7819" y="171450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3531869" y="2384107"/>
            <a:ext cx="229743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Flexibilité</a:t>
            </a:r>
            <a:endParaRPr sz="1100"/>
          </a:p>
        </p:txBody>
      </p:sp>
      <p:sp>
        <p:nvSpPr>
          <p:cNvPr id="135" name="Google Shape;135;p19"/>
          <p:cNvSpPr txBox="1"/>
          <p:nvPr/>
        </p:nvSpPr>
        <p:spPr>
          <a:xfrm>
            <a:off x="3531869" y="3049380"/>
            <a:ext cx="229743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Changer de mailer = réécrire la classe.</a:t>
            </a:r>
            <a:endParaRPr sz="1100"/>
          </a:p>
        </p:txBody>
      </p:sp>
      <p:sp>
        <p:nvSpPr>
          <p:cNvPr id="136" name="Google Shape;136;p19"/>
          <p:cNvSpPr/>
          <p:nvPr/>
        </p:nvSpPr>
        <p:spPr>
          <a:xfrm>
            <a:off x="6250305" y="1518284"/>
            <a:ext cx="2708911" cy="205740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240780" y="1508759"/>
            <a:ext cx="2708911" cy="4114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446519" y="1664970"/>
            <a:ext cx="685801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/>
          </a:p>
        </p:txBody>
      </p:sp>
      <p:pic>
        <p:nvPicPr>
          <p:cNvPr descr="Image 2" id="139" name="Google Shape;1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2469" y="171450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6446519" y="2384107"/>
            <a:ext cx="229743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Réutilisation</a:t>
            </a:r>
            <a:endParaRPr sz="1100"/>
          </a:p>
        </p:txBody>
      </p:sp>
      <p:sp>
        <p:nvSpPr>
          <p:cNvPr id="141" name="Google Shape;141;p19"/>
          <p:cNvSpPr txBox="1"/>
          <p:nvPr/>
        </p:nvSpPr>
        <p:spPr>
          <a:xfrm>
            <a:off x="6446519" y="2963655"/>
            <a:ext cx="2297431" cy="313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 OrderService de test ≠ prod → on duplique.</a:t>
            </a:r>
            <a:endParaRPr sz="1100"/>
          </a:p>
        </p:txBody>
      </p:sp>
      <p:sp>
        <p:nvSpPr>
          <p:cNvPr id="142" name="Google Shape;142;p19"/>
          <p:cNvSpPr/>
          <p:nvPr/>
        </p:nvSpPr>
        <p:spPr>
          <a:xfrm>
            <a:off x="411479" y="3840480"/>
            <a:ext cx="8298182" cy="7543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11480" y="3840480"/>
            <a:ext cx="54865" cy="7543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617220" y="3994818"/>
            <a:ext cx="2057401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CAUSE RACINE</a:t>
            </a:r>
            <a:endParaRPr sz="1100"/>
          </a:p>
        </p:txBody>
      </p:sp>
      <p:sp>
        <p:nvSpPr>
          <p:cNvPr id="145" name="Google Shape;145;p19"/>
          <p:cNvSpPr txBox="1"/>
          <p:nvPr/>
        </p:nvSpPr>
        <p:spPr>
          <a:xfrm>
            <a:off x="617220" y="4232909"/>
            <a:ext cx="82296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Georgia"/>
              <a:buNone/>
            </a:pPr>
            <a:r>
              <a:rPr b="0" i="1" lang="en" sz="1500" u="none" cap="none" strike="noStrike">
                <a:solidFill>
                  <a:srgbClr val="E2E8F0"/>
                </a:solidFill>
                <a:latin typeface="Georgia"/>
                <a:ea typeface="Georgia"/>
                <a:cs typeface="Georgia"/>
                <a:sym typeface="Georgia"/>
              </a:rPr>
              <a:t>La classe </a:t>
            </a:r>
            <a:r>
              <a:rPr b="1" i="1" lang="en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contrôle</a:t>
            </a:r>
            <a:r>
              <a:rPr b="0" i="1" lang="en" sz="1500" u="none" cap="none" strike="noStrike">
                <a:solidFill>
                  <a:srgbClr val="E2E8F0"/>
                </a:solidFill>
                <a:latin typeface="Georgia"/>
                <a:ea typeface="Georgia"/>
                <a:cs typeface="Georgia"/>
                <a:sym typeface="Georgia"/>
              </a:rPr>
              <a:t> ses dépendances au lieu de les </a:t>
            </a:r>
            <a:r>
              <a:rPr b="1" i="1" lang="en" sz="1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recevoir</a:t>
            </a:r>
            <a:r>
              <a:rPr b="0" i="1" lang="en" sz="1500" u="none" cap="none" strike="noStrike">
                <a:solidFill>
                  <a:srgbClr val="E2E8F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/>
          </a:p>
        </p:txBody>
      </p:sp>
      <p:sp>
        <p:nvSpPr>
          <p:cNvPr id="146" name="Google Shape;146;p19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SOLID</a:t>
            </a:r>
            <a:endParaRPr sz="1100"/>
          </a:p>
        </p:txBody>
      </p:sp>
      <p:sp>
        <p:nvSpPr>
          <p:cNvPr id="153" name="Google Shape;153;p20"/>
          <p:cNvSpPr txBox="1"/>
          <p:nvPr/>
        </p:nvSpPr>
        <p:spPr>
          <a:xfrm>
            <a:off x="411480" y="789623"/>
            <a:ext cx="8229601" cy="40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900"/>
              <a:buFont typeface="Georgia"/>
              <a:buNone/>
            </a:pPr>
            <a:r>
              <a:rPr b="1" i="0" lang="en" sz="29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1" i="0" lang="en" sz="29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ependency Inversion Principle</a:t>
            </a:r>
            <a:endParaRPr sz="1100"/>
          </a:p>
        </p:txBody>
      </p:sp>
      <p:sp>
        <p:nvSpPr>
          <p:cNvPr id="154" name="Google Shape;154;p20"/>
          <p:cNvSpPr txBox="1"/>
          <p:nvPr/>
        </p:nvSpPr>
        <p:spPr>
          <a:xfrm>
            <a:off x="411480" y="1327457"/>
            <a:ext cx="8229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« D » de SOLID — et le socle théorique de la DI.</a:t>
            </a:r>
            <a:endParaRPr sz="1100"/>
          </a:p>
        </p:txBody>
      </p:sp>
      <p:sp>
        <p:nvSpPr>
          <p:cNvPr id="155" name="Google Shape;155;p20"/>
          <p:cNvSpPr/>
          <p:nvPr/>
        </p:nvSpPr>
        <p:spPr>
          <a:xfrm>
            <a:off x="411480" y="1920240"/>
            <a:ext cx="342901" cy="342901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11480" y="1986915"/>
            <a:ext cx="3429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157" name="Google Shape;157;p20"/>
          <p:cNvSpPr txBox="1"/>
          <p:nvPr/>
        </p:nvSpPr>
        <p:spPr>
          <a:xfrm>
            <a:off x="891540" y="2032702"/>
            <a:ext cx="7818120" cy="18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modules de haut niveau ne doivent pas dépendre des modules de bas niveau.</a:t>
            </a:r>
            <a:endParaRPr sz="1100"/>
          </a:p>
        </p:txBody>
      </p:sp>
      <p:sp>
        <p:nvSpPr>
          <p:cNvPr id="158" name="Google Shape;158;p20"/>
          <p:cNvSpPr/>
          <p:nvPr/>
        </p:nvSpPr>
        <p:spPr>
          <a:xfrm>
            <a:off x="411480" y="2571750"/>
            <a:ext cx="342901" cy="3429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11480" y="2638425"/>
            <a:ext cx="3429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160" name="Google Shape;160;p20"/>
          <p:cNvSpPr txBox="1"/>
          <p:nvPr/>
        </p:nvSpPr>
        <p:spPr>
          <a:xfrm>
            <a:off x="891540" y="2684211"/>
            <a:ext cx="7818120" cy="186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deux doivent dépendre d'abstractions.</a:t>
            </a:r>
            <a:endParaRPr sz="1100"/>
          </a:p>
        </p:txBody>
      </p:sp>
      <p:sp>
        <p:nvSpPr>
          <p:cNvPr id="161" name="Google Shape;161;p20"/>
          <p:cNvSpPr/>
          <p:nvPr/>
        </p:nvSpPr>
        <p:spPr>
          <a:xfrm>
            <a:off x="411480" y="3223259"/>
            <a:ext cx="342901" cy="342901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11480" y="3289934"/>
            <a:ext cx="3429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163" name="Google Shape;163;p20"/>
          <p:cNvSpPr txBox="1"/>
          <p:nvPr/>
        </p:nvSpPr>
        <p:spPr>
          <a:xfrm>
            <a:off x="891540" y="3335722"/>
            <a:ext cx="7818120" cy="186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abstractions ne doivent pas dépendre des détails.</a:t>
            </a:r>
            <a:endParaRPr sz="1100"/>
          </a:p>
        </p:txBody>
      </p:sp>
      <p:sp>
        <p:nvSpPr>
          <p:cNvPr id="164" name="Google Shape;164;p20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LES 3 FORMES</a:t>
            </a:r>
            <a:endParaRPr sz="1100"/>
          </a:p>
        </p:txBody>
      </p:sp>
      <p:sp>
        <p:nvSpPr>
          <p:cNvPr id="171" name="Google Shape;171;p21"/>
          <p:cNvSpPr txBox="1"/>
          <p:nvPr/>
        </p:nvSpPr>
        <p:spPr>
          <a:xfrm>
            <a:off x="411480" y="807720"/>
            <a:ext cx="8572501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Trois manières d'injecter. Une seule bonne par défaut.</a:t>
            </a:r>
            <a:endParaRPr sz="1100"/>
          </a:p>
        </p:txBody>
      </p:sp>
      <p:sp>
        <p:nvSpPr>
          <p:cNvPr id="172" name="Google Shape;172;p21"/>
          <p:cNvSpPr/>
          <p:nvPr/>
        </p:nvSpPr>
        <p:spPr>
          <a:xfrm>
            <a:off x="411479" y="1440179"/>
            <a:ext cx="8298182" cy="8915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11480" y="1440179"/>
            <a:ext cx="54865" cy="8915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82930" y="1595438"/>
            <a:ext cx="61722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/>
          </a:p>
        </p:txBody>
      </p:sp>
      <p:sp>
        <p:nvSpPr>
          <p:cNvPr id="175" name="Google Shape;175;p21"/>
          <p:cNvSpPr txBox="1"/>
          <p:nvPr/>
        </p:nvSpPr>
        <p:spPr>
          <a:xfrm>
            <a:off x="582930" y="1918334"/>
            <a:ext cx="30861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Constructor injection</a:t>
            </a:r>
            <a:endParaRPr sz="1100"/>
          </a:p>
        </p:txBody>
      </p:sp>
      <p:sp>
        <p:nvSpPr>
          <p:cNvPr id="176" name="Google Shape;176;p21"/>
          <p:cNvSpPr txBox="1"/>
          <p:nvPr/>
        </p:nvSpPr>
        <p:spPr>
          <a:xfrm>
            <a:off x="582930" y="2170025"/>
            <a:ext cx="3086101" cy="117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99% des cas</a:t>
            </a:r>
            <a:endParaRPr sz="1100"/>
          </a:p>
        </p:txBody>
      </p:sp>
      <p:sp>
        <p:nvSpPr>
          <p:cNvPr id="177" name="Google Shape;177;p21"/>
          <p:cNvSpPr/>
          <p:nvPr/>
        </p:nvSpPr>
        <p:spPr>
          <a:xfrm>
            <a:off x="3771900" y="1543050"/>
            <a:ext cx="4869181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3874769" y="1591055"/>
            <a:ext cx="4732022" cy="37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constructor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8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dep: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Dep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179" name="Google Shape;179;p21"/>
          <p:cNvSpPr/>
          <p:nvPr/>
        </p:nvSpPr>
        <p:spPr>
          <a:xfrm>
            <a:off x="411479" y="2434590"/>
            <a:ext cx="8298182" cy="8915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11480" y="2434590"/>
            <a:ext cx="54865" cy="89154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82930" y="2589847"/>
            <a:ext cx="61722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/>
          </a:p>
        </p:txBody>
      </p:sp>
      <p:sp>
        <p:nvSpPr>
          <p:cNvPr id="182" name="Google Shape;182;p21"/>
          <p:cNvSpPr txBox="1"/>
          <p:nvPr/>
        </p:nvSpPr>
        <p:spPr>
          <a:xfrm>
            <a:off x="582930" y="2912744"/>
            <a:ext cx="30861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Setter injection</a:t>
            </a:r>
            <a:endParaRPr sz="1100"/>
          </a:p>
        </p:txBody>
      </p:sp>
      <p:sp>
        <p:nvSpPr>
          <p:cNvPr id="183" name="Google Shape;183;p21"/>
          <p:cNvSpPr txBox="1"/>
          <p:nvPr/>
        </p:nvSpPr>
        <p:spPr>
          <a:xfrm>
            <a:off x="582930" y="3164435"/>
            <a:ext cx="3086101" cy="11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endParaRPr sz="1100"/>
          </a:p>
        </p:txBody>
      </p:sp>
      <p:sp>
        <p:nvSpPr>
          <p:cNvPr id="184" name="Google Shape;184;p21"/>
          <p:cNvSpPr/>
          <p:nvPr/>
        </p:nvSpPr>
        <p:spPr>
          <a:xfrm>
            <a:off x="3771900" y="2537459"/>
            <a:ext cx="4869181" cy="68580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874769" y="2585466"/>
            <a:ext cx="4732022" cy="37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setDep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dep: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Dep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8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.dep = dep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186" name="Google Shape;186;p21"/>
          <p:cNvSpPr/>
          <p:nvPr/>
        </p:nvSpPr>
        <p:spPr>
          <a:xfrm>
            <a:off x="411479" y="3429000"/>
            <a:ext cx="8298182" cy="8915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11480" y="3429000"/>
            <a:ext cx="54865" cy="8915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82930" y="3584257"/>
            <a:ext cx="61722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/>
          </a:p>
        </p:txBody>
      </p:sp>
      <p:sp>
        <p:nvSpPr>
          <p:cNvPr id="189" name="Google Shape;189;p21"/>
          <p:cNvSpPr txBox="1"/>
          <p:nvPr/>
        </p:nvSpPr>
        <p:spPr>
          <a:xfrm>
            <a:off x="582930" y="3907155"/>
            <a:ext cx="308610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Method injection</a:t>
            </a:r>
            <a:endParaRPr sz="1100"/>
          </a:p>
        </p:txBody>
      </p:sp>
      <p:sp>
        <p:nvSpPr>
          <p:cNvPr id="190" name="Google Shape;190;p21"/>
          <p:cNvSpPr txBox="1"/>
          <p:nvPr/>
        </p:nvSpPr>
        <p:spPr>
          <a:xfrm>
            <a:off x="582930" y="4158845"/>
            <a:ext cx="3086101" cy="11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endParaRPr sz="1100"/>
          </a:p>
        </p:txBody>
      </p:sp>
      <p:sp>
        <p:nvSpPr>
          <p:cNvPr id="191" name="Google Shape;191;p21"/>
          <p:cNvSpPr/>
          <p:nvPr/>
        </p:nvSpPr>
        <p:spPr>
          <a:xfrm>
            <a:off x="3771900" y="3531869"/>
            <a:ext cx="4869181" cy="68580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874769" y="3579875"/>
            <a:ext cx="4732022" cy="37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run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dep: </a:t>
            </a:r>
            <a:r>
              <a:rPr b="0" i="0" lang="en" sz="8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Dep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" sz="8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/* ... */ </a:t>
            </a: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193" name="Google Shape;193;p21"/>
          <p:cNvSpPr txBox="1"/>
          <p:nvPr/>
        </p:nvSpPr>
        <p:spPr>
          <a:xfrm>
            <a:off x="411480" y="4585007"/>
            <a:ext cx="8229601" cy="15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1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Règle : </a:t>
            </a:r>
            <a:r>
              <a:rPr b="0" i="1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constructor par défaut. Les autres sont des exceptions.</a:t>
            </a:r>
            <a:endParaRPr sz="1100"/>
          </a:p>
        </p:txBody>
      </p:sp>
      <p:sp>
        <p:nvSpPr>
          <p:cNvPr id="194" name="Google Shape;194;p21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/>
          <p:nvPr/>
        </p:nvSpPr>
        <p:spPr>
          <a:xfrm>
            <a:off x="-1" y="0"/>
            <a:ext cx="9143773" cy="1714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11480" y="923400"/>
            <a:ext cx="548640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DÉMO LIVE</a:t>
            </a:r>
            <a:endParaRPr sz="1100"/>
          </a:p>
        </p:txBody>
      </p:sp>
      <p:sp>
        <p:nvSpPr>
          <p:cNvPr id="201" name="Google Shape;201;p22"/>
          <p:cNvSpPr txBox="1"/>
          <p:nvPr/>
        </p:nvSpPr>
        <p:spPr>
          <a:xfrm>
            <a:off x="411480" y="1390650"/>
            <a:ext cx="8229601" cy="64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1" i="0" lang="en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 refactor le OrderService</a:t>
            </a:r>
            <a:endParaRPr sz="1100"/>
          </a:p>
        </p:txBody>
      </p:sp>
      <p:sp>
        <p:nvSpPr>
          <p:cNvPr id="202" name="Google Shape;202;p22"/>
          <p:cNvSpPr txBox="1"/>
          <p:nvPr/>
        </p:nvSpPr>
        <p:spPr>
          <a:xfrm>
            <a:off x="411480" y="2213609"/>
            <a:ext cx="8229601" cy="64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500"/>
              <a:buFont typeface="Georgia"/>
              <a:buNone/>
            </a:pPr>
            <a:r>
              <a:rPr b="1" i="1" lang="en" sz="4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en direct.</a:t>
            </a:r>
            <a:endParaRPr sz="1100"/>
          </a:p>
        </p:txBody>
      </p:sp>
      <p:sp>
        <p:nvSpPr>
          <p:cNvPr id="203" name="Google Shape;203;p22"/>
          <p:cNvSpPr/>
          <p:nvPr/>
        </p:nvSpPr>
        <p:spPr>
          <a:xfrm>
            <a:off x="411479" y="3634740"/>
            <a:ext cx="8298182" cy="89154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3806190"/>
            <a:ext cx="548641" cy="54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1303020" y="3824419"/>
            <a:ext cx="2743201" cy="10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sz="1100"/>
          </a:p>
        </p:txBody>
      </p:sp>
      <p:sp>
        <p:nvSpPr>
          <p:cNvPr id="206" name="Google Shape;206;p22"/>
          <p:cNvSpPr txBox="1"/>
          <p:nvPr/>
        </p:nvSpPr>
        <p:spPr>
          <a:xfrm>
            <a:off x="1303020" y="4098608"/>
            <a:ext cx="6858001" cy="23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Voir la classe devenir testable en 3 minutes.</a:t>
            </a:r>
            <a:endParaRPr sz="1100"/>
          </a:p>
        </p:txBody>
      </p:sp>
      <p:sp>
        <p:nvSpPr>
          <p:cNvPr id="207" name="Google Shape;207;p22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RÉCAP DÉMO</a:t>
            </a:r>
            <a:endParaRPr sz="1100"/>
          </a:p>
        </p:txBody>
      </p:sp>
      <p:sp>
        <p:nvSpPr>
          <p:cNvPr id="214" name="Google Shape;214;p23"/>
          <p:cNvSpPr txBox="1"/>
          <p:nvPr/>
        </p:nvSpPr>
        <p:spPr>
          <a:xfrm>
            <a:off x="411480" y="779145"/>
            <a:ext cx="8229601" cy="361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Avant  →  Après.</a:t>
            </a:r>
            <a:endParaRPr sz="1100"/>
          </a:p>
        </p:txBody>
      </p:sp>
      <p:sp>
        <p:nvSpPr>
          <p:cNvPr id="215" name="Google Shape;215;p23"/>
          <p:cNvSpPr/>
          <p:nvPr/>
        </p:nvSpPr>
        <p:spPr>
          <a:xfrm>
            <a:off x="411479" y="1508759"/>
            <a:ext cx="3840482" cy="651511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39" y="1680209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960119" y="1748789"/>
            <a:ext cx="3154682" cy="171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new Dep() dans la classe</a:t>
            </a:r>
            <a:endParaRPr sz="1100"/>
          </a:p>
        </p:txBody>
      </p:sp>
      <p:pic>
        <p:nvPicPr>
          <p:cNvPr descr="Image 1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830" y="1714500"/>
            <a:ext cx="240031" cy="24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4869180" y="1508759"/>
            <a:ext cx="3840481" cy="651511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220" name="Google Shape;22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339" y="1680209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5417819" y="1748789"/>
            <a:ext cx="3154681" cy="171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interface + injection constructeur</a:t>
            </a:r>
            <a:endParaRPr sz="1100"/>
          </a:p>
        </p:txBody>
      </p:sp>
      <p:sp>
        <p:nvSpPr>
          <p:cNvPr id="222" name="Google Shape;222;p23"/>
          <p:cNvSpPr/>
          <p:nvPr/>
        </p:nvSpPr>
        <p:spPr>
          <a:xfrm>
            <a:off x="411479" y="2263140"/>
            <a:ext cx="3840482" cy="651511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39" y="2434590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960119" y="2503170"/>
            <a:ext cx="3154682" cy="171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Tests impossibles</a:t>
            </a:r>
            <a:endParaRPr sz="1100"/>
          </a:p>
        </p:txBody>
      </p:sp>
      <p:pic>
        <p:nvPicPr>
          <p:cNvPr descr="Image 4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830" y="2468880"/>
            <a:ext cx="240031" cy="24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/>
          <p:nvPr/>
        </p:nvSpPr>
        <p:spPr>
          <a:xfrm>
            <a:off x="4869180" y="2263140"/>
            <a:ext cx="3840481" cy="651511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5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339" y="2434590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417819" y="2503170"/>
            <a:ext cx="3154681" cy="171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Tests triviaux avec fakes</a:t>
            </a:r>
            <a:endParaRPr sz="1100"/>
          </a:p>
        </p:txBody>
      </p:sp>
      <p:sp>
        <p:nvSpPr>
          <p:cNvPr id="229" name="Google Shape;229;p23"/>
          <p:cNvSpPr/>
          <p:nvPr/>
        </p:nvSpPr>
        <p:spPr>
          <a:xfrm>
            <a:off x="411479" y="3017519"/>
            <a:ext cx="3840482" cy="651511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6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39" y="3188969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960119" y="3256817"/>
            <a:ext cx="3154682" cy="17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Couplage class → class</a:t>
            </a:r>
            <a:endParaRPr sz="1100"/>
          </a:p>
        </p:txBody>
      </p:sp>
      <p:pic>
        <p:nvPicPr>
          <p:cNvPr descr="Image 7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830" y="3223259"/>
            <a:ext cx="240031" cy="24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4869180" y="3017519"/>
            <a:ext cx="3840481" cy="651511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8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339" y="3188969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5417819" y="3256817"/>
            <a:ext cx="3154681" cy="17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Couplage class → interface</a:t>
            </a:r>
            <a:endParaRPr sz="1100"/>
          </a:p>
        </p:txBody>
      </p:sp>
      <p:sp>
        <p:nvSpPr>
          <p:cNvPr id="236" name="Google Shape;236;p23"/>
          <p:cNvSpPr/>
          <p:nvPr/>
        </p:nvSpPr>
        <p:spPr>
          <a:xfrm>
            <a:off x="411479" y="4114800"/>
            <a:ext cx="8298182" cy="61722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411479" y="4223384"/>
            <a:ext cx="8298182" cy="40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Georgia"/>
              <a:buNone/>
            </a:pPr>
            <a:r>
              <a:rPr b="0" i="1" lang="en" sz="1400" u="none" cap="none" strike="noStrike">
                <a:solidFill>
                  <a:srgbClr val="E2E8F0"/>
                </a:solidFill>
                <a:latin typeface="Georgia"/>
                <a:ea typeface="Georgia"/>
                <a:cs typeface="Georgia"/>
                <a:sym typeface="Georgia"/>
              </a:rPr>
              <a:t>Le code n'est pas beaucoup plus long. </a:t>
            </a:r>
            <a:r>
              <a:rPr b="1" i="1" lang="en" sz="1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La classe déclare ce dont elle a besoin au lieu de le cacher.</a:t>
            </a:r>
            <a:endParaRPr sz="1100"/>
          </a:p>
        </p:txBody>
      </p:sp>
      <p:sp>
        <p:nvSpPr>
          <p:cNvPr id="238" name="Google Shape;238;p23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OUTILLAGE</a:t>
            </a:r>
            <a:endParaRPr sz="1100"/>
          </a:p>
        </p:txBody>
      </p:sp>
      <p:sp>
        <p:nvSpPr>
          <p:cNvPr id="245" name="Google Shape;245;p24"/>
          <p:cNvSpPr txBox="1"/>
          <p:nvPr/>
        </p:nvSpPr>
        <p:spPr>
          <a:xfrm>
            <a:off x="411480" y="788670"/>
            <a:ext cx="8229601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Les containers DI, brièvement.</a:t>
            </a:r>
            <a:endParaRPr sz="1100"/>
          </a:p>
        </p:txBody>
      </p:sp>
      <p:sp>
        <p:nvSpPr>
          <p:cNvPr id="246" name="Google Shape;246;p24"/>
          <p:cNvSpPr txBox="1"/>
          <p:nvPr/>
        </p:nvSpPr>
        <p:spPr>
          <a:xfrm>
            <a:off x="411480" y="1327457"/>
            <a:ext cx="8229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 le wiring manuel devient pénible.</a:t>
            </a:r>
            <a:endParaRPr sz="1100"/>
          </a:p>
        </p:txBody>
      </p:sp>
      <p:sp>
        <p:nvSpPr>
          <p:cNvPr id="247" name="Google Shape;247;p24"/>
          <p:cNvSpPr/>
          <p:nvPr/>
        </p:nvSpPr>
        <p:spPr>
          <a:xfrm>
            <a:off x="411480" y="1783079"/>
            <a:ext cx="2708910" cy="178308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98882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617220" y="2550795"/>
            <a:ext cx="22974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onsolas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tsyringe</a:t>
            </a:r>
            <a:endParaRPr sz="1100"/>
          </a:p>
        </p:txBody>
      </p:sp>
      <p:sp>
        <p:nvSpPr>
          <p:cNvPr id="250" name="Google Shape;250;p24"/>
          <p:cNvSpPr txBox="1"/>
          <p:nvPr/>
        </p:nvSpPr>
        <p:spPr>
          <a:xfrm>
            <a:off x="617220" y="2897538"/>
            <a:ext cx="2297430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MICROSOFT</a:t>
            </a:r>
            <a:endParaRPr sz="1100"/>
          </a:p>
        </p:txBody>
      </p:sp>
      <p:sp>
        <p:nvSpPr>
          <p:cNvPr id="251" name="Google Shape;251;p24"/>
          <p:cNvSpPr txBox="1"/>
          <p:nvPr/>
        </p:nvSpPr>
        <p:spPr>
          <a:xfrm>
            <a:off x="617220" y="3229304"/>
            <a:ext cx="2297430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Léger. Décorateurs simples.</a:t>
            </a:r>
            <a:endParaRPr sz="1100"/>
          </a:p>
        </p:txBody>
      </p:sp>
      <p:sp>
        <p:nvSpPr>
          <p:cNvPr id="252" name="Google Shape;252;p24"/>
          <p:cNvSpPr/>
          <p:nvPr/>
        </p:nvSpPr>
        <p:spPr>
          <a:xfrm>
            <a:off x="3326130" y="1783079"/>
            <a:ext cx="2708911" cy="178308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869" y="198882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3531869" y="2550795"/>
            <a:ext cx="2297431" cy="2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onsolas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InversifyJS</a:t>
            </a:r>
            <a:endParaRPr sz="1100"/>
          </a:p>
        </p:txBody>
      </p:sp>
      <p:sp>
        <p:nvSpPr>
          <p:cNvPr id="255" name="Google Shape;255;p24"/>
          <p:cNvSpPr txBox="1"/>
          <p:nvPr/>
        </p:nvSpPr>
        <p:spPr>
          <a:xfrm>
            <a:off x="3531869" y="2897538"/>
            <a:ext cx="2297431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MATURE</a:t>
            </a:r>
            <a:endParaRPr sz="1100"/>
          </a:p>
        </p:txBody>
      </p:sp>
      <p:sp>
        <p:nvSpPr>
          <p:cNvPr id="256" name="Google Shape;256;p24"/>
          <p:cNvSpPr txBox="1"/>
          <p:nvPr/>
        </p:nvSpPr>
        <p:spPr>
          <a:xfrm>
            <a:off x="3531869" y="3229304"/>
            <a:ext cx="2297431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Puissant mais verbeux.</a:t>
            </a:r>
            <a:endParaRPr sz="1100"/>
          </a:p>
        </p:txBody>
      </p:sp>
      <p:sp>
        <p:nvSpPr>
          <p:cNvPr id="257" name="Google Shape;257;p24"/>
          <p:cNvSpPr/>
          <p:nvPr/>
        </p:nvSpPr>
        <p:spPr>
          <a:xfrm>
            <a:off x="6240780" y="1783079"/>
            <a:ext cx="2708911" cy="178308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19" y="198882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6446519" y="2550795"/>
            <a:ext cx="2297431" cy="2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onsolas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NestJS</a:t>
            </a:r>
            <a:endParaRPr sz="1100"/>
          </a:p>
        </p:txBody>
      </p:sp>
      <p:sp>
        <p:nvSpPr>
          <p:cNvPr id="260" name="Google Shape;260;p24"/>
          <p:cNvSpPr txBox="1"/>
          <p:nvPr/>
        </p:nvSpPr>
        <p:spPr>
          <a:xfrm>
            <a:off x="6446519" y="2897538"/>
            <a:ext cx="2297431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100"/>
          </a:p>
        </p:txBody>
      </p:sp>
      <p:sp>
        <p:nvSpPr>
          <p:cNvPr id="261" name="Google Shape;261;p24"/>
          <p:cNvSpPr txBox="1"/>
          <p:nvPr/>
        </p:nvSpPr>
        <p:spPr>
          <a:xfrm>
            <a:off x="6446519" y="3229304"/>
            <a:ext cx="2297431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Intégré, opinionated.</a:t>
            </a:r>
            <a:endParaRPr sz="1100"/>
          </a:p>
        </p:txBody>
      </p:sp>
      <p:sp>
        <p:nvSpPr>
          <p:cNvPr id="262" name="Google Shape;262;p24"/>
          <p:cNvSpPr/>
          <p:nvPr/>
        </p:nvSpPr>
        <p:spPr>
          <a:xfrm>
            <a:off x="411479" y="3840480"/>
            <a:ext cx="8298182" cy="7543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" y="401193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1165859" y="4135526"/>
            <a:ext cx="7406642" cy="164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 container est un </a:t>
            </a:r>
            <a:r>
              <a:rPr b="1" i="0" lang="en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outil</a:t>
            </a:r>
            <a:r>
              <a:rPr b="0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pas le concept. </a:t>
            </a:r>
            <a:r>
              <a:rPr b="0" i="1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 peut faire de la DI propre sans container.</a:t>
            </a:r>
            <a:endParaRPr sz="1100"/>
          </a:p>
        </p:txBody>
      </p:sp>
      <p:sp>
        <p:nvSpPr>
          <p:cNvPr id="265" name="Google Shape;265;p24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PIÈGE 01 / 04</a:t>
            </a:r>
            <a:endParaRPr sz="1100"/>
          </a:p>
        </p:txBody>
      </p:sp>
      <p:sp>
        <p:nvSpPr>
          <p:cNvPr id="272" name="Google Shape;272;p25"/>
          <p:cNvSpPr txBox="1"/>
          <p:nvPr/>
        </p:nvSpPr>
        <p:spPr>
          <a:xfrm>
            <a:off x="411480" y="775335"/>
            <a:ext cx="8229601" cy="438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Service Locator.</a:t>
            </a:r>
            <a:endParaRPr sz="1100"/>
          </a:p>
        </p:txBody>
      </p:sp>
      <p:sp>
        <p:nvSpPr>
          <p:cNvPr id="273" name="Google Shape;273;p25"/>
          <p:cNvSpPr txBox="1"/>
          <p:nvPr/>
        </p:nvSpPr>
        <p:spPr>
          <a:xfrm>
            <a:off x="411480" y="1396037"/>
            <a:ext cx="8229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Ressemble à de la DI. N'en est pas.</a:t>
            </a:r>
            <a:endParaRPr sz="1100"/>
          </a:p>
        </p:txBody>
      </p:sp>
      <p:sp>
        <p:nvSpPr>
          <p:cNvPr id="274" name="Google Shape;274;p25"/>
          <p:cNvSpPr/>
          <p:nvPr/>
        </p:nvSpPr>
        <p:spPr>
          <a:xfrm>
            <a:off x="411480" y="1851659"/>
            <a:ext cx="5143501" cy="226314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582929" y="1954529"/>
            <a:ext cx="4937762" cy="92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OrderService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checkout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db =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.get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1" lang="en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// ❌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  <p:sp>
        <p:nvSpPr>
          <p:cNvPr id="276" name="Google Shape;276;p25"/>
          <p:cNvSpPr/>
          <p:nvPr/>
        </p:nvSpPr>
        <p:spPr>
          <a:xfrm>
            <a:off x="5760719" y="1851659"/>
            <a:ext cx="2948941" cy="2263141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1988820"/>
            <a:ext cx="342901" cy="3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5897880" y="2446972"/>
            <a:ext cx="2743201" cy="18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Le symptôme</a:t>
            </a:r>
            <a:endParaRPr sz="1100"/>
          </a:p>
        </p:txBody>
      </p:sp>
      <p:sp>
        <p:nvSpPr>
          <p:cNvPr id="279" name="Google Shape;279;p25"/>
          <p:cNvSpPr txBox="1"/>
          <p:nvPr/>
        </p:nvSpPr>
        <p:spPr>
          <a:xfrm>
            <a:off x="5897880" y="2860785"/>
            <a:ext cx="2743201" cy="313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 classe cherche ses dépendances au lieu de les recevoir.</a:t>
            </a:r>
            <a:endParaRPr sz="1100"/>
          </a:p>
        </p:txBody>
      </p:sp>
      <p:sp>
        <p:nvSpPr>
          <p:cNvPr id="280" name="Google Shape;280;p25"/>
          <p:cNvSpPr txBox="1"/>
          <p:nvPr/>
        </p:nvSpPr>
        <p:spPr>
          <a:xfrm>
            <a:off x="5897880" y="3666600"/>
            <a:ext cx="274320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Les dépendances redeviennent cachées.</a:t>
            </a:r>
            <a:endParaRPr sz="1100"/>
          </a:p>
        </p:txBody>
      </p:sp>
      <p:sp>
        <p:nvSpPr>
          <p:cNvPr id="281" name="Google Shape;281;p25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PIÈGE 02 / 04</a:t>
            </a:r>
            <a:endParaRPr sz="1100"/>
          </a:p>
        </p:txBody>
      </p:sp>
      <p:sp>
        <p:nvSpPr>
          <p:cNvPr id="288" name="Google Shape;288;p26"/>
          <p:cNvSpPr txBox="1"/>
          <p:nvPr/>
        </p:nvSpPr>
        <p:spPr>
          <a:xfrm>
            <a:off x="411480" y="775335"/>
            <a:ext cx="8229601" cy="438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Constructor bloating.</a:t>
            </a:r>
            <a:endParaRPr sz="1100"/>
          </a:p>
        </p:txBody>
      </p:sp>
      <p:sp>
        <p:nvSpPr>
          <p:cNvPr id="289" name="Google Shape;289;p26"/>
          <p:cNvSpPr/>
          <p:nvPr/>
        </p:nvSpPr>
        <p:spPr>
          <a:xfrm>
            <a:off x="411480" y="1508759"/>
            <a:ext cx="5143501" cy="294894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82929" y="1611629"/>
            <a:ext cx="4937762" cy="14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db: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Db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mailer: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Mailer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logger: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cache: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Cache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metrics: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Metrics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auth: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Auth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" sz="11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feature: </a:t>
            </a:r>
            <a:r>
              <a:rPr b="0" i="0" lang="en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FeatureFlags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sz="1100"/>
          </a:p>
        </p:txBody>
      </p:sp>
      <p:sp>
        <p:nvSpPr>
          <p:cNvPr id="291" name="Google Shape;291;p26"/>
          <p:cNvSpPr/>
          <p:nvPr/>
        </p:nvSpPr>
        <p:spPr>
          <a:xfrm>
            <a:off x="5760719" y="1527809"/>
            <a:ext cx="2948941" cy="2948941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292" name="Google Shape;2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1680209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5897880" y="1972628"/>
            <a:ext cx="1028701" cy="981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800"/>
              <a:buFont typeface="Georgia"/>
              <a:buNone/>
            </a:pPr>
            <a:r>
              <a:rPr b="1" i="0" lang="en" sz="68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1100"/>
          </a:p>
        </p:txBody>
      </p:sp>
      <p:sp>
        <p:nvSpPr>
          <p:cNvPr id="294" name="Google Shape;294;p26"/>
          <p:cNvSpPr txBox="1"/>
          <p:nvPr/>
        </p:nvSpPr>
        <p:spPr>
          <a:xfrm>
            <a:off x="5897880" y="3015090"/>
            <a:ext cx="274320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dépendances</a:t>
            </a:r>
            <a:endParaRPr sz="1100"/>
          </a:p>
        </p:txBody>
      </p:sp>
      <p:sp>
        <p:nvSpPr>
          <p:cNvPr id="295" name="Google Shape;295;p26"/>
          <p:cNvSpPr txBox="1"/>
          <p:nvPr/>
        </p:nvSpPr>
        <p:spPr>
          <a:xfrm>
            <a:off x="5897880" y="3556307"/>
            <a:ext cx="2743201" cy="15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 classe </a:t>
            </a:r>
            <a:r>
              <a:rPr b="1" i="1" lang="en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fait trop de choses.</a:t>
            </a:r>
            <a:endParaRPr sz="1100"/>
          </a:p>
        </p:txBody>
      </p:sp>
      <p:sp>
        <p:nvSpPr>
          <p:cNvPr id="296" name="Google Shape;296;p26"/>
          <p:cNvSpPr txBox="1"/>
          <p:nvPr/>
        </p:nvSpPr>
        <p:spPr>
          <a:xfrm>
            <a:off x="5897880" y="4038600"/>
            <a:ext cx="2743201" cy="152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Georgia"/>
              <a:buNone/>
            </a:pPr>
            <a:r>
              <a:rPr b="0" i="1" lang="en" sz="1100" u="none" cap="none" strike="noStrike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rPr>
              <a:t>La DI te le dit. Écoute-la.</a:t>
            </a:r>
            <a:endParaRPr sz="1100"/>
          </a:p>
        </p:txBody>
      </p:sp>
      <p:sp>
        <p:nvSpPr>
          <p:cNvPr id="297" name="Google Shape;297;p26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617220" y="412565"/>
            <a:ext cx="411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PIÈGE 0</a:t>
            </a:r>
            <a:r>
              <a:rPr b="1" lang="en" sz="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" sz="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/>
          </a:p>
        </p:txBody>
      </p:sp>
      <p:sp>
        <p:nvSpPr>
          <p:cNvPr id="304" name="Google Shape;304;p27"/>
          <p:cNvSpPr txBox="1"/>
          <p:nvPr/>
        </p:nvSpPr>
        <p:spPr>
          <a:xfrm>
            <a:off x="411480" y="775335"/>
            <a:ext cx="8229601" cy="438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Over-engineering.</a:t>
            </a:r>
            <a:endParaRPr sz="1100"/>
          </a:p>
        </p:txBody>
      </p:sp>
      <p:sp>
        <p:nvSpPr>
          <p:cNvPr id="305" name="Google Shape;305;p27"/>
          <p:cNvSpPr txBox="1"/>
          <p:nvPr/>
        </p:nvSpPr>
        <p:spPr>
          <a:xfrm>
            <a:off x="411480" y="1396037"/>
            <a:ext cx="8229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DI n'est pas gratuite. Chaque interface et chaque injection est du code en plus.</a:t>
            </a:r>
            <a:endParaRPr sz="1100"/>
          </a:p>
        </p:txBody>
      </p:sp>
      <p:sp>
        <p:nvSpPr>
          <p:cNvPr id="306" name="Google Shape;306;p27"/>
          <p:cNvSpPr txBox="1"/>
          <p:nvPr/>
        </p:nvSpPr>
        <p:spPr>
          <a:xfrm>
            <a:off x="411480" y="1891994"/>
            <a:ext cx="4114801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 besoin de DI pour…</a:t>
            </a:r>
            <a:endParaRPr sz="1100"/>
          </a:p>
        </p:txBody>
      </p:sp>
      <p:sp>
        <p:nvSpPr>
          <p:cNvPr id="307" name="Google Shape;307;p27"/>
          <p:cNvSpPr/>
          <p:nvPr/>
        </p:nvSpPr>
        <p:spPr>
          <a:xfrm>
            <a:off x="411479" y="2160270"/>
            <a:ext cx="4046222" cy="3771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582929" y="2270431"/>
            <a:ext cx="384048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 script one-shot</a:t>
            </a:r>
            <a:endParaRPr sz="1100"/>
          </a:p>
        </p:txBody>
      </p:sp>
      <p:sp>
        <p:nvSpPr>
          <p:cNvPr id="309" name="Google Shape;309;p27"/>
          <p:cNvSpPr/>
          <p:nvPr/>
        </p:nvSpPr>
        <p:spPr>
          <a:xfrm>
            <a:off x="411479" y="2640330"/>
            <a:ext cx="4046222" cy="3771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582929" y="2750492"/>
            <a:ext cx="3840482" cy="15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 utilitaire pur (pas d'I/O)</a:t>
            </a:r>
            <a:endParaRPr sz="1100"/>
          </a:p>
        </p:txBody>
      </p:sp>
      <p:sp>
        <p:nvSpPr>
          <p:cNvPr id="311" name="Google Shape;311;p27"/>
          <p:cNvSpPr/>
          <p:nvPr/>
        </p:nvSpPr>
        <p:spPr>
          <a:xfrm>
            <a:off x="411479" y="3120390"/>
            <a:ext cx="4046222" cy="3771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 txBox="1"/>
          <p:nvPr/>
        </p:nvSpPr>
        <p:spPr>
          <a:xfrm>
            <a:off x="582929" y="3230552"/>
            <a:ext cx="384048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Une fonction stateless</a:t>
            </a:r>
            <a:endParaRPr sz="1100"/>
          </a:p>
        </p:txBody>
      </p:sp>
      <p:sp>
        <p:nvSpPr>
          <p:cNvPr id="313" name="Google Shape;313;p27"/>
          <p:cNvSpPr/>
          <p:nvPr/>
        </p:nvSpPr>
        <p:spPr>
          <a:xfrm>
            <a:off x="4663440" y="1817370"/>
            <a:ext cx="4046221" cy="226314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0"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4890" y="1988820"/>
            <a:ext cx="411481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4834890" y="2504255"/>
            <a:ext cx="3703321" cy="10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RÈGLE PRAGMATIQUE</a:t>
            </a:r>
            <a:endParaRPr sz="1100"/>
          </a:p>
        </p:txBody>
      </p:sp>
      <p:sp>
        <p:nvSpPr>
          <p:cNvPr id="316" name="Google Shape;316;p27"/>
          <p:cNvSpPr txBox="1"/>
          <p:nvPr/>
        </p:nvSpPr>
        <p:spPr>
          <a:xfrm>
            <a:off x="4834890" y="2708909"/>
            <a:ext cx="3703321" cy="77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 dès qu'il y 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I/O</a:t>
            </a: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ou </a:t>
            </a:r>
            <a:r>
              <a:rPr b="1" i="0" lang="en" sz="18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état externe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à mocker.</a:t>
            </a:r>
            <a:endParaRPr sz="1100"/>
          </a:p>
        </p:txBody>
      </p:sp>
      <p:sp>
        <p:nvSpPr>
          <p:cNvPr id="317" name="Google Shape;317;p27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TAKE-AWAYS</a:t>
            </a:r>
            <a:endParaRPr sz="1100"/>
          </a:p>
        </p:txBody>
      </p:sp>
      <p:sp>
        <p:nvSpPr>
          <p:cNvPr id="324" name="Google Shape;324;p28"/>
          <p:cNvSpPr txBox="1"/>
          <p:nvPr/>
        </p:nvSpPr>
        <p:spPr>
          <a:xfrm>
            <a:off x="411480" y="779145"/>
            <a:ext cx="8229601" cy="361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Ce qu'il faut retenir.</a:t>
            </a:r>
            <a:endParaRPr sz="1100"/>
          </a:p>
        </p:txBody>
      </p:sp>
      <p:sp>
        <p:nvSpPr>
          <p:cNvPr id="325" name="Google Shape;325;p28"/>
          <p:cNvSpPr txBox="1"/>
          <p:nvPr/>
        </p:nvSpPr>
        <p:spPr>
          <a:xfrm>
            <a:off x="411480" y="1577339"/>
            <a:ext cx="754380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/>
          </a:p>
        </p:txBody>
      </p:sp>
      <p:sp>
        <p:nvSpPr>
          <p:cNvPr id="326" name="Google Shape;326;p28"/>
          <p:cNvSpPr txBox="1"/>
          <p:nvPr/>
        </p:nvSpPr>
        <p:spPr>
          <a:xfrm>
            <a:off x="1165860" y="1647038"/>
            <a:ext cx="7543801" cy="20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 = recevoir ses dépendances, pas les créer.</a:t>
            </a:r>
            <a:endParaRPr sz="1100"/>
          </a:p>
        </p:txBody>
      </p:sp>
      <p:sp>
        <p:nvSpPr>
          <p:cNvPr id="327" name="Google Shape;327;p28"/>
          <p:cNvSpPr/>
          <p:nvPr/>
        </p:nvSpPr>
        <p:spPr>
          <a:xfrm>
            <a:off x="411479" y="202177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411480" y="2160270"/>
            <a:ext cx="754380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/>
          </a:p>
        </p:txBody>
      </p:sp>
      <p:sp>
        <p:nvSpPr>
          <p:cNvPr id="329" name="Google Shape;329;p28"/>
          <p:cNvSpPr txBox="1"/>
          <p:nvPr/>
        </p:nvSpPr>
        <p:spPr>
          <a:xfrm>
            <a:off x="1165860" y="2229968"/>
            <a:ext cx="7543801" cy="20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Constructor injection par défaut.</a:t>
            </a:r>
            <a:endParaRPr sz="1100"/>
          </a:p>
        </p:txBody>
      </p:sp>
      <p:sp>
        <p:nvSpPr>
          <p:cNvPr id="330" name="Google Shape;330;p28"/>
          <p:cNvSpPr/>
          <p:nvPr/>
        </p:nvSpPr>
        <p:spPr>
          <a:xfrm>
            <a:off x="411479" y="260470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411480" y="2743200"/>
            <a:ext cx="754380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/>
          </a:p>
        </p:txBody>
      </p:sp>
      <p:sp>
        <p:nvSpPr>
          <p:cNvPr id="332" name="Google Shape;332;p28"/>
          <p:cNvSpPr txBox="1"/>
          <p:nvPr/>
        </p:nvSpPr>
        <p:spPr>
          <a:xfrm>
            <a:off x="1165860" y="2812898"/>
            <a:ext cx="7543801" cy="20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Dépendre d'interfaces, pas de classes concrètes.</a:t>
            </a:r>
            <a:endParaRPr sz="1100"/>
          </a:p>
        </p:txBody>
      </p:sp>
      <p:sp>
        <p:nvSpPr>
          <p:cNvPr id="333" name="Google Shape;333;p28"/>
          <p:cNvSpPr/>
          <p:nvPr/>
        </p:nvSpPr>
        <p:spPr>
          <a:xfrm>
            <a:off x="411479" y="318763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411480" y="3326130"/>
            <a:ext cx="754380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100"/>
          </a:p>
        </p:txBody>
      </p:sp>
      <p:sp>
        <p:nvSpPr>
          <p:cNvPr id="335" name="Google Shape;335;p28"/>
          <p:cNvSpPr txBox="1"/>
          <p:nvPr/>
        </p:nvSpPr>
        <p:spPr>
          <a:xfrm>
            <a:off x="1165860" y="3395827"/>
            <a:ext cx="7543801" cy="20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Pas besoin de container pour commencer.</a:t>
            </a:r>
            <a:endParaRPr sz="1100"/>
          </a:p>
        </p:txBody>
      </p:sp>
      <p:sp>
        <p:nvSpPr>
          <p:cNvPr id="336" name="Google Shape;336;p28"/>
          <p:cNvSpPr/>
          <p:nvPr/>
        </p:nvSpPr>
        <p:spPr>
          <a:xfrm>
            <a:off x="411479" y="3770566"/>
            <a:ext cx="8298182" cy="952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411480" y="3909060"/>
            <a:ext cx="754380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100"/>
          </a:p>
        </p:txBody>
      </p:sp>
      <p:sp>
        <p:nvSpPr>
          <p:cNvPr id="338" name="Google Shape;338;p28"/>
          <p:cNvSpPr txBox="1"/>
          <p:nvPr/>
        </p:nvSpPr>
        <p:spPr>
          <a:xfrm>
            <a:off x="1165860" y="3978758"/>
            <a:ext cx="7543801" cy="2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 constructeur trop gros → la classe fait trop.</a:t>
            </a:r>
            <a:endParaRPr sz="1100"/>
          </a:p>
        </p:txBody>
      </p:sp>
      <p:sp>
        <p:nvSpPr>
          <p:cNvPr id="339" name="Google Shape;339;p28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100"/>
          </a:p>
        </p:txBody>
      </p:sp>
      <p:sp>
        <p:nvSpPr>
          <p:cNvPr id="346" name="Google Shape;346;p29"/>
          <p:cNvSpPr txBox="1"/>
          <p:nvPr/>
        </p:nvSpPr>
        <p:spPr>
          <a:xfrm>
            <a:off x="411480" y="779145"/>
            <a:ext cx="8229601" cy="34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Atelier : on passe à la pratique.</a:t>
            </a:r>
            <a:endParaRPr sz="1100"/>
          </a:p>
        </p:txBody>
      </p:sp>
      <p:sp>
        <p:nvSpPr>
          <p:cNvPr id="347" name="Google Shape;347;p29"/>
          <p:cNvSpPr txBox="1"/>
          <p:nvPr/>
        </p:nvSpPr>
        <p:spPr>
          <a:xfrm>
            <a:off x="411480" y="1327457"/>
            <a:ext cx="8229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mini-service OrderService volontairement mal écrit.</a:t>
            </a:r>
            <a:endParaRPr sz="1100"/>
          </a:p>
        </p:txBody>
      </p:sp>
      <p:sp>
        <p:nvSpPr>
          <p:cNvPr id="348" name="Google Shape;348;p29"/>
          <p:cNvSpPr/>
          <p:nvPr/>
        </p:nvSpPr>
        <p:spPr>
          <a:xfrm>
            <a:off x="411480" y="1851659"/>
            <a:ext cx="2708910" cy="226314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617220" y="1960244"/>
            <a:ext cx="1371601" cy="108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0"/>
              <a:buFont typeface="Georgia"/>
              <a:buNone/>
            </a:pPr>
            <a:r>
              <a:rPr b="1" i="0" lang="en" sz="7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350" name="Google Shape;350;p29"/>
          <p:cNvSpPr txBox="1"/>
          <p:nvPr/>
        </p:nvSpPr>
        <p:spPr>
          <a:xfrm>
            <a:off x="617220" y="3118484"/>
            <a:ext cx="2297430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Essayer de le tester</a:t>
            </a:r>
            <a:endParaRPr sz="1100"/>
          </a:p>
        </p:txBody>
      </p:sp>
      <p:sp>
        <p:nvSpPr>
          <p:cNvPr id="351" name="Google Shape;351;p29"/>
          <p:cNvSpPr txBox="1"/>
          <p:nvPr/>
        </p:nvSpPr>
        <p:spPr>
          <a:xfrm>
            <a:off x="617220" y="3666600"/>
            <a:ext cx="2297430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Ressentir la douleur.</a:t>
            </a:r>
            <a:endParaRPr sz="1100"/>
          </a:p>
        </p:txBody>
      </p:sp>
      <p:sp>
        <p:nvSpPr>
          <p:cNvPr id="352" name="Google Shape;352;p29"/>
          <p:cNvSpPr/>
          <p:nvPr/>
        </p:nvSpPr>
        <p:spPr>
          <a:xfrm>
            <a:off x="3326130" y="1851659"/>
            <a:ext cx="2708911" cy="226314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3531869" y="1960244"/>
            <a:ext cx="1371601" cy="108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0"/>
              <a:buFont typeface="Georgia"/>
              <a:buNone/>
            </a:pPr>
            <a:r>
              <a:rPr b="1" i="0" lang="en" sz="75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354" name="Google Shape;354;p29"/>
          <p:cNvSpPr txBox="1"/>
          <p:nvPr/>
        </p:nvSpPr>
        <p:spPr>
          <a:xfrm>
            <a:off x="3531869" y="3118484"/>
            <a:ext cx="229743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Refactor avec injection</a:t>
            </a:r>
            <a:endParaRPr sz="1100"/>
          </a:p>
        </p:txBody>
      </p:sp>
      <p:sp>
        <p:nvSpPr>
          <p:cNvPr id="355" name="Google Shape;355;p29"/>
          <p:cNvSpPr txBox="1"/>
          <p:nvPr/>
        </p:nvSpPr>
        <p:spPr>
          <a:xfrm>
            <a:off x="3531869" y="3666600"/>
            <a:ext cx="229743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Interfaces + constructeur.</a:t>
            </a:r>
            <a:endParaRPr sz="1100"/>
          </a:p>
        </p:txBody>
      </p:sp>
      <p:sp>
        <p:nvSpPr>
          <p:cNvPr id="356" name="Google Shape;356;p29"/>
          <p:cNvSpPr/>
          <p:nvPr/>
        </p:nvSpPr>
        <p:spPr>
          <a:xfrm>
            <a:off x="6240780" y="1851659"/>
            <a:ext cx="2708911" cy="22631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6446519" y="1960244"/>
            <a:ext cx="1371601" cy="108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0"/>
              <a:buFont typeface="Georgia"/>
              <a:buNone/>
            </a:pPr>
            <a:r>
              <a:rPr b="1" i="0" lang="en" sz="75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358" name="Google Shape;358;p29"/>
          <p:cNvSpPr txBox="1"/>
          <p:nvPr/>
        </p:nvSpPr>
        <p:spPr>
          <a:xfrm>
            <a:off x="6446519" y="3118484"/>
            <a:ext cx="2297431" cy="20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Bonus : container</a:t>
            </a:r>
            <a:endParaRPr sz="1100"/>
          </a:p>
        </p:txBody>
      </p:sp>
      <p:sp>
        <p:nvSpPr>
          <p:cNvPr id="359" name="Google Shape;359;p29"/>
          <p:cNvSpPr txBox="1"/>
          <p:nvPr/>
        </p:nvSpPr>
        <p:spPr>
          <a:xfrm>
            <a:off x="6446519" y="3657075"/>
            <a:ext cx="2297431" cy="14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Introduire tsyringe.</a:t>
            </a:r>
            <a:endParaRPr sz="1100"/>
          </a:p>
        </p:txBody>
      </p:sp>
      <p:sp>
        <p:nvSpPr>
          <p:cNvPr id="360" name="Google Shape;360;p29"/>
          <p:cNvSpPr/>
          <p:nvPr/>
        </p:nvSpPr>
        <p:spPr>
          <a:xfrm>
            <a:off x="411479" y="4320540"/>
            <a:ext cx="8298182" cy="411481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411479" y="4456322"/>
            <a:ext cx="8298182" cy="139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Repo + instructions fournis avant la session.</a:t>
            </a:r>
            <a:endParaRPr sz="1100"/>
          </a:p>
        </p:txBody>
      </p:sp>
      <p:sp>
        <p:nvSpPr>
          <p:cNvPr id="362" name="Google Shape;362;p29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617220" y="248602"/>
            <a:ext cx="2743201" cy="3686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0"/>
              <a:buFont typeface="Georgia"/>
              <a:buNone/>
            </a:pPr>
            <a:r>
              <a:rPr b="1" i="0" lang="en" sz="25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</a:t>
            </a:r>
            <a:endParaRPr sz="1100"/>
          </a:p>
        </p:txBody>
      </p:sp>
      <p:sp>
        <p:nvSpPr>
          <p:cNvPr id="369" name="Google Shape;369;p30"/>
          <p:cNvSpPr txBox="1"/>
          <p:nvPr/>
        </p:nvSpPr>
        <p:spPr>
          <a:xfrm>
            <a:off x="3350895" y="1162741"/>
            <a:ext cx="2743201" cy="2162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0"/>
              <a:buFont typeface="Georgia"/>
              <a:buNone/>
            </a:pPr>
            <a:r>
              <a:rPr b="0" i="1" lang="en" sz="150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&amp;</a:t>
            </a:r>
            <a:endParaRPr sz="1100"/>
          </a:p>
        </p:txBody>
      </p:sp>
      <p:sp>
        <p:nvSpPr>
          <p:cNvPr id="370" name="Google Shape;370;p30"/>
          <p:cNvSpPr txBox="1"/>
          <p:nvPr/>
        </p:nvSpPr>
        <p:spPr>
          <a:xfrm>
            <a:off x="4718164" y="270509"/>
            <a:ext cx="2743201" cy="3686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0"/>
              <a:buFont typeface="Georgia"/>
              <a:buNone/>
            </a:pPr>
            <a:r>
              <a:rPr b="1" i="0" lang="en" sz="25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sz="1100"/>
          </a:p>
        </p:txBody>
      </p:sp>
      <p:sp>
        <p:nvSpPr>
          <p:cNvPr id="371" name="Google Shape;371;p30"/>
          <p:cNvSpPr txBox="1"/>
          <p:nvPr/>
        </p:nvSpPr>
        <p:spPr>
          <a:xfrm>
            <a:off x="607695" y="4332792"/>
            <a:ext cx="8229601" cy="181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Questions, retours, cas concrets de vos missions.</a:t>
            </a:r>
            <a:endParaRPr sz="1100"/>
          </a:p>
        </p:txBody>
      </p:sp>
      <p:sp>
        <p:nvSpPr>
          <p:cNvPr id="372" name="Google Shape;372;p30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/>
          <p:nvPr/>
        </p:nvSpPr>
        <p:spPr>
          <a:xfrm>
            <a:off x="411480" y="397763"/>
            <a:ext cx="123445" cy="12344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617220" y="412564"/>
            <a:ext cx="4114801" cy="100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RESSOURCES</a:t>
            </a:r>
            <a:endParaRPr sz="1100"/>
          </a:p>
        </p:txBody>
      </p:sp>
      <p:sp>
        <p:nvSpPr>
          <p:cNvPr id="379" name="Google Shape;379;p31"/>
          <p:cNvSpPr txBox="1"/>
          <p:nvPr/>
        </p:nvSpPr>
        <p:spPr>
          <a:xfrm>
            <a:off x="411480" y="779145"/>
            <a:ext cx="8229601" cy="361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Pour aller plus loin.</a:t>
            </a:r>
            <a:endParaRPr sz="1100"/>
          </a:p>
        </p:txBody>
      </p:sp>
      <p:sp>
        <p:nvSpPr>
          <p:cNvPr id="380" name="Google Shape;380;p31"/>
          <p:cNvSpPr/>
          <p:nvPr/>
        </p:nvSpPr>
        <p:spPr>
          <a:xfrm>
            <a:off x="411479" y="1577340"/>
            <a:ext cx="8298182" cy="82296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411480" y="1577340"/>
            <a:ext cx="54865" cy="82296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617220" y="1765968"/>
            <a:ext cx="1371601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LIVRE</a:t>
            </a:r>
            <a:endParaRPr sz="1100"/>
          </a:p>
        </p:txBody>
      </p:sp>
      <p:sp>
        <p:nvSpPr>
          <p:cNvPr id="383" name="Google Shape;383;p31"/>
          <p:cNvSpPr txBox="1"/>
          <p:nvPr/>
        </p:nvSpPr>
        <p:spPr>
          <a:xfrm>
            <a:off x="617219" y="1974532"/>
            <a:ext cx="7955282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Dependency Injection — Principles, Practices, and Patterns</a:t>
            </a:r>
            <a:endParaRPr sz="1100"/>
          </a:p>
        </p:txBody>
      </p:sp>
      <p:sp>
        <p:nvSpPr>
          <p:cNvPr id="384" name="Google Shape;384;p31"/>
          <p:cNvSpPr txBox="1"/>
          <p:nvPr/>
        </p:nvSpPr>
        <p:spPr>
          <a:xfrm>
            <a:off x="617219" y="2234894"/>
            <a:ext cx="7955282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 Seemann</a:t>
            </a:r>
            <a:endParaRPr sz="1100"/>
          </a:p>
        </p:txBody>
      </p:sp>
      <p:sp>
        <p:nvSpPr>
          <p:cNvPr id="385" name="Google Shape;385;p31"/>
          <p:cNvSpPr/>
          <p:nvPr/>
        </p:nvSpPr>
        <p:spPr>
          <a:xfrm>
            <a:off x="411479" y="2503169"/>
            <a:ext cx="8298182" cy="82296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411480" y="2503169"/>
            <a:ext cx="54865" cy="82296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617220" y="2691798"/>
            <a:ext cx="1371601" cy="10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ARTICLE</a:t>
            </a:r>
            <a:endParaRPr sz="1100"/>
          </a:p>
        </p:txBody>
      </p:sp>
      <p:sp>
        <p:nvSpPr>
          <p:cNvPr id="388" name="Google Shape;388;p31"/>
          <p:cNvSpPr txBox="1"/>
          <p:nvPr/>
        </p:nvSpPr>
        <p:spPr>
          <a:xfrm>
            <a:off x="617219" y="2900362"/>
            <a:ext cx="7955282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Inversion of Control Containers and the Dependency Injection pattern</a:t>
            </a:r>
            <a:endParaRPr sz="1100"/>
          </a:p>
        </p:txBody>
      </p:sp>
      <p:sp>
        <p:nvSpPr>
          <p:cNvPr id="389" name="Google Shape;389;p31"/>
          <p:cNvSpPr txBox="1"/>
          <p:nvPr/>
        </p:nvSpPr>
        <p:spPr>
          <a:xfrm>
            <a:off x="617219" y="3160724"/>
            <a:ext cx="7955282" cy="12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Martin Fowler</a:t>
            </a:r>
            <a:endParaRPr sz="1100"/>
          </a:p>
        </p:txBody>
      </p:sp>
      <p:sp>
        <p:nvSpPr>
          <p:cNvPr id="390" name="Google Shape;390;p31"/>
          <p:cNvSpPr txBox="1"/>
          <p:nvPr/>
        </p:nvSpPr>
        <p:spPr>
          <a:xfrm>
            <a:off x="411479" y="4500563"/>
            <a:ext cx="82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Georgia"/>
              <a:buNone/>
            </a:pPr>
            <a:r>
              <a:rPr b="1" i="1" lang="en" sz="1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Merci.</a:t>
            </a:r>
            <a:endParaRPr sz="1100"/>
          </a:p>
        </p:txBody>
      </p:sp>
      <p:sp>
        <p:nvSpPr>
          <p:cNvPr id="391" name="Google Shape;391;p31"/>
          <p:cNvSpPr txBox="1"/>
          <p:nvPr/>
        </p:nvSpPr>
        <p:spPr>
          <a:xfrm>
            <a:off x="411480" y="4890135"/>
            <a:ext cx="4114801" cy="9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YOKOTEN · DEPENDENCY INJECTION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